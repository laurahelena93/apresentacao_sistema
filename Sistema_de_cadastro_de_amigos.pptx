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Montaser Arabic Bold" charset="1" panose="00000800000000000000"/>
      <p:regular r:id="rId13"/>
    </p:embeddedFont>
    <p:embeddedFont>
      <p:font typeface="Montaser Arabic" charset="1" panose="00000500000000000000"/>
      <p:regular r:id="rId14"/>
    </p:embeddedFont>
    <p:embeddedFont>
      <p:font typeface="Montaser Arabic Semi-Bold" charset="1" panose="00000700000000000000"/>
      <p:regular r:id="rId15"/>
    </p:embeddedFont>
    <p:embeddedFont>
      <p:font typeface="Montaser Arabic Heavy" charset="1" panose="00000A00000000000000"/>
      <p:regular r:id="rId16"/>
    </p:embeddedFont>
    <p:embeddedFont>
      <p:font typeface="Montaser Arabic Ultra-Bold" charset="1" panose="00000900000000000000"/>
      <p:regular r:id="rId17"/>
    </p:embeddedFont>
    <p:embeddedFont>
      <p:font typeface="Montaser Arabic Medium" charset="1" panose="000006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jpe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png" Type="http://schemas.openxmlformats.org/officeDocument/2006/relationships/image"/><Relationship Id="rId12" Target="../media/image27.png" Type="http://schemas.openxmlformats.org/officeDocument/2006/relationships/image"/><Relationship Id="rId13" Target="../media/image28.png" Type="http://schemas.openxmlformats.org/officeDocument/2006/relationships/image"/><Relationship Id="rId14" Target="../media/image29.png" Type="http://schemas.openxmlformats.org/officeDocument/2006/relationships/image"/><Relationship Id="rId15" Target="../media/image30.png" Type="http://schemas.openxmlformats.org/officeDocument/2006/relationships/image"/><Relationship Id="rId16" Target="../media/image31.png" Type="http://schemas.openxmlformats.org/officeDocument/2006/relationships/image"/><Relationship Id="rId17" Target="../media/image32.png" Type="http://schemas.openxmlformats.org/officeDocument/2006/relationships/image"/><Relationship Id="rId18" Target="../media/image33.png" Type="http://schemas.openxmlformats.org/officeDocument/2006/relationships/image"/><Relationship Id="rId19" Target="../media/image34.png" Type="http://schemas.openxmlformats.org/officeDocument/2006/relationships/image"/><Relationship Id="rId2" Target="../media/image17.png" Type="http://schemas.openxmlformats.org/officeDocument/2006/relationships/image"/><Relationship Id="rId20" Target="../media/image35.png" Type="http://schemas.openxmlformats.org/officeDocument/2006/relationships/image"/><Relationship Id="rId21" Target="../media/image36.png" Type="http://schemas.openxmlformats.org/officeDocument/2006/relationships/image"/><Relationship Id="rId22" Target="../media/image3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11" Target="../media/image47.png" Type="http://schemas.openxmlformats.org/officeDocument/2006/relationships/image"/><Relationship Id="rId12" Target="../media/image48.png" Type="http://schemas.openxmlformats.org/officeDocument/2006/relationships/image"/><Relationship Id="rId13" Target="../media/image49.png" Type="http://schemas.openxmlformats.org/officeDocument/2006/relationships/image"/><Relationship Id="rId14" Target="../media/image50.png" Type="http://schemas.openxmlformats.org/officeDocument/2006/relationships/image"/><Relationship Id="rId15" Target="../media/image51.png" Type="http://schemas.openxmlformats.org/officeDocument/2006/relationships/image"/><Relationship Id="rId2" Target="../media/image38.pn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Relationship Id="rId6" Target="../media/image42.png" Type="http://schemas.openxmlformats.org/officeDocument/2006/relationships/image"/><Relationship Id="rId7" Target="../media/image43.png" Type="http://schemas.openxmlformats.org/officeDocument/2006/relationships/image"/><Relationship Id="rId8" Target="../media/image44.pn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png" Type="http://schemas.openxmlformats.org/officeDocument/2006/relationships/image"/><Relationship Id="rId11" Target="../media/image61.png" Type="http://schemas.openxmlformats.org/officeDocument/2006/relationships/image"/><Relationship Id="rId12" Target="../media/image62.png" Type="http://schemas.openxmlformats.org/officeDocument/2006/relationships/image"/><Relationship Id="rId13" Target="../media/image63.png" Type="http://schemas.openxmlformats.org/officeDocument/2006/relationships/image"/><Relationship Id="rId14" Target="../media/image64.png" Type="http://schemas.openxmlformats.org/officeDocument/2006/relationships/image"/><Relationship Id="rId15" Target="../media/image65.png" Type="http://schemas.openxmlformats.org/officeDocument/2006/relationships/image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54.png" Type="http://schemas.openxmlformats.org/officeDocument/2006/relationships/image"/><Relationship Id="rId5" Target="../media/image55.png" Type="http://schemas.openxmlformats.org/officeDocument/2006/relationships/image"/><Relationship Id="rId6" Target="../media/image56.png" Type="http://schemas.openxmlformats.org/officeDocument/2006/relationships/image"/><Relationship Id="rId7" Target="../media/image57.png" Type="http://schemas.openxmlformats.org/officeDocument/2006/relationships/image"/><Relationship Id="rId8" Target="../media/image58.pn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6.png" Type="http://schemas.openxmlformats.org/officeDocument/2006/relationships/image"/><Relationship Id="rId3" Target="../media/image67.jpeg" Type="http://schemas.openxmlformats.org/officeDocument/2006/relationships/image"/><Relationship Id="rId4" Target="../media/image68.png" Type="http://schemas.openxmlformats.org/officeDocument/2006/relationships/image"/><Relationship Id="rId5" Target="../media/image69.png" Type="http://schemas.openxmlformats.org/officeDocument/2006/relationships/image"/><Relationship Id="rId6" Target="../media/image70.png" Type="http://schemas.openxmlformats.org/officeDocument/2006/relationships/image"/><Relationship Id="rId7" Target="../media/image71.png" Type="http://schemas.openxmlformats.org/officeDocument/2006/relationships/image"/><Relationship Id="rId8" Target="../media/image7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C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76862"/>
            <a:ext cx="19351188" cy="10640724"/>
          </a:xfrm>
          <a:custGeom>
            <a:avLst/>
            <a:gdLst/>
            <a:ahLst/>
            <a:cxnLst/>
            <a:rect r="r" b="b" t="t" l="l"/>
            <a:pathLst>
              <a:path h="10640724" w="19351188">
                <a:moveTo>
                  <a:pt x="0" y="0"/>
                </a:moveTo>
                <a:lnTo>
                  <a:pt x="19351188" y="0"/>
                </a:lnTo>
                <a:lnTo>
                  <a:pt x="19351188" y="10640724"/>
                </a:lnTo>
                <a:lnTo>
                  <a:pt x="0" y="106407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468" r="0" b="-1046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957315" y="759386"/>
            <a:ext cx="3035808" cy="624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4"/>
              </a:lnSpc>
            </a:pPr>
            <a:r>
              <a:rPr lang="en-US" b="true" sz="4704" spc="-188">
                <a:solidFill>
                  <a:srgbClr val="22268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AFINAL ...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675594" y="1630576"/>
            <a:ext cx="8796528" cy="953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60"/>
              </a:lnSpc>
            </a:pPr>
            <a:r>
              <a:rPr lang="en-US" b="true" sz="7160" spc="-286">
                <a:solidFill>
                  <a:srgbClr val="22268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COMO FUNCIONA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92513" y="3166155"/>
            <a:ext cx="12881931" cy="2081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087"/>
              </a:lnSpc>
            </a:pPr>
            <a:r>
              <a:rPr lang="en-US" b="true" sz="8087" spc="-323">
                <a:solidFill>
                  <a:srgbClr val="C64A6D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SISTEMA DE CADASTRO DE AMIGOS 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475219" y="8625080"/>
            <a:ext cx="4407408" cy="128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939">
                <a:solidFill>
                  <a:srgbClr val="22268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Gerencie amizades com segurança e praticidade.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852160" y="5771920"/>
            <a:ext cx="6583680" cy="144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0"/>
              </a:lnSpc>
            </a:pPr>
            <a:r>
              <a:rPr lang="en-US" b="true" sz="5610" spc="-224">
                <a:solidFill>
                  <a:srgbClr val="22268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LOGIN E</a:t>
            </a:r>
            <a:r>
              <a:rPr lang="en-US" b="true" sz="5610" spc="-224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b="true" sz="5610" spc="-224">
                <a:solidFill>
                  <a:srgbClr val="C64A6D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CRUD DESCOMPLICADOS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C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1331560" cy="10287000"/>
          </a:xfrm>
          <a:custGeom>
            <a:avLst/>
            <a:gdLst/>
            <a:ahLst/>
            <a:cxnLst/>
            <a:rect r="r" b="b" t="t" l="l"/>
            <a:pathLst>
              <a:path h="10287000" w="11331560">
                <a:moveTo>
                  <a:pt x="0" y="0"/>
                </a:moveTo>
                <a:lnTo>
                  <a:pt x="11331560" y="0"/>
                </a:lnTo>
                <a:lnTo>
                  <a:pt x="1133156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70574" y="0"/>
            <a:ext cx="5676718" cy="3224936"/>
          </a:xfrm>
          <a:custGeom>
            <a:avLst/>
            <a:gdLst/>
            <a:ahLst/>
            <a:cxnLst/>
            <a:rect r="r" b="b" t="t" l="l"/>
            <a:pathLst>
              <a:path h="3224936" w="5676718">
                <a:moveTo>
                  <a:pt x="0" y="0"/>
                </a:moveTo>
                <a:lnTo>
                  <a:pt x="5676718" y="0"/>
                </a:lnTo>
                <a:lnTo>
                  <a:pt x="5676718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43584" y="1223204"/>
            <a:ext cx="7095744" cy="1350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65"/>
              </a:lnSpc>
            </a:pPr>
            <a:r>
              <a:rPr lang="en-US" sz="7975" b="true">
                <a:solidFill>
                  <a:srgbClr val="FFFFFF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OBJETIVO DO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43584" y="2173783"/>
            <a:ext cx="5852160" cy="1726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52"/>
              </a:lnSpc>
            </a:pPr>
            <a:r>
              <a:rPr lang="en-US" sz="10108" b="true">
                <a:solidFill>
                  <a:srgbClr val="E67A87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SISTEMA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82842" y="4066699"/>
            <a:ext cx="448450" cy="1508614"/>
          </a:xfrm>
          <a:custGeom>
            <a:avLst/>
            <a:gdLst/>
            <a:ahLst/>
            <a:cxnLst/>
            <a:rect r="r" b="b" t="t" l="l"/>
            <a:pathLst>
              <a:path h="1508614" w="448450">
                <a:moveTo>
                  <a:pt x="0" y="0"/>
                </a:moveTo>
                <a:lnTo>
                  <a:pt x="448450" y="0"/>
                </a:lnTo>
                <a:lnTo>
                  <a:pt x="44845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92224" y="4312393"/>
            <a:ext cx="4846320" cy="1101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315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Gerenciar amigos com segurança e praticidade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82842" y="5783021"/>
            <a:ext cx="448450" cy="1508614"/>
          </a:xfrm>
          <a:custGeom>
            <a:avLst/>
            <a:gdLst/>
            <a:ahLst/>
            <a:cxnLst/>
            <a:rect r="r" b="b" t="t" l="l"/>
            <a:pathLst>
              <a:path h="1508614" w="448450">
                <a:moveTo>
                  <a:pt x="0" y="0"/>
                </a:moveTo>
                <a:lnTo>
                  <a:pt x="448450" y="0"/>
                </a:lnTo>
                <a:lnTo>
                  <a:pt x="44845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92224" y="6029974"/>
            <a:ext cx="4754880" cy="1111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7"/>
              </a:lnSpc>
            </a:pPr>
            <a:r>
              <a:rPr lang="en-US" sz="3233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Login simples e seguro para acesso controlado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82842" y="7499343"/>
            <a:ext cx="448450" cy="1508614"/>
          </a:xfrm>
          <a:custGeom>
            <a:avLst/>
            <a:gdLst/>
            <a:ahLst/>
            <a:cxnLst/>
            <a:rect r="r" b="b" t="t" l="l"/>
            <a:pathLst>
              <a:path h="1508614" w="448450">
                <a:moveTo>
                  <a:pt x="0" y="0"/>
                </a:moveTo>
                <a:lnTo>
                  <a:pt x="448450" y="0"/>
                </a:lnTo>
                <a:lnTo>
                  <a:pt x="44845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92224" y="7789051"/>
            <a:ext cx="5870448" cy="1111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7"/>
              </a:lnSpc>
            </a:pPr>
            <a:r>
              <a:rPr lang="en-US" sz="3233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CRUD para manter a lista de amigos sempre atualizada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706488" y="2776725"/>
            <a:ext cx="9581512" cy="7510275"/>
          </a:xfrm>
          <a:custGeom>
            <a:avLst/>
            <a:gdLst/>
            <a:ahLst/>
            <a:cxnLst/>
            <a:rect r="r" b="b" t="t" l="l"/>
            <a:pathLst>
              <a:path h="7510275" w="9581512">
                <a:moveTo>
                  <a:pt x="0" y="0"/>
                </a:moveTo>
                <a:lnTo>
                  <a:pt x="9581512" y="0"/>
                </a:lnTo>
                <a:lnTo>
                  <a:pt x="9581512" y="7510275"/>
                </a:lnTo>
                <a:lnTo>
                  <a:pt x="0" y="75102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140400">
            <a:off x="10483636" y="3537368"/>
            <a:ext cx="1572768" cy="656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0"/>
              </a:lnSpc>
            </a:pPr>
            <a:r>
              <a:rPr lang="en-US" sz="3821" b="true">
                <a:solidFill>
                  <a:srgbClr val="F8E8C5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CRIAR</a:t>
            </a:r>
          </a:p>
        </p:txBody>
      </p:sp>
      <p:sp>
        <p:nvSpPr>
          <p:cNvPr name="TextBox 14" id="14"/>
          <p:cNvSpPr txBox="true"/>
          <p:nvPr/>
        </p:nvSpPr>
        <p:spPr>
          <a:xfrm rot="140400">
            <a:off x="10483273" y="4639481"/>
            <a:ext cx="987552" cy="674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6"/>
              </a:lnSpc>
            </a:pPr>
            <a:r>
              <a:rPr lang="en-US" sz="3983" b="true">
                <a:solidFill>
                  <a:srgbClr val="F8E8C5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LER</a:t>
            </a:r>
          </a:p>
        </p:txBody>
      </p:sp>
      <p:sp>
        <p:nvSpPr>
          <p:cNvPr name="TextBox 15" id="15"/>
          <p:cNvSpPr txBox="true"/>
          <p:nvPr/>
        </p:nvSpPr>
        <p:spPr>
          <a:xfrm rot="302400">
            <a:off x="10488130" y="5781043"/>
            <a:ext cx="2962656" cy="675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31"/>
              </a:lnSpc>
            </a:pPr>
            <a:r>
              <a:rPr lang="en-US" sz="3950" b="true">
                <a:solidFill>
                  <a:srgbClr val="F8E8C5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ATUALIZAR</a:t>
            </a:r>
          </a:p>
        </p:txBody>
      </p:sp>
      <p:sp>
        <p:nvSpPr>
          <p:cNvPr name="TextBox 16" id="16"/>
          <p:cNvSpPr txBox="true"/>
          <p:nvPr/>
        </p:nvSpPr>
        <p:spPr>
          <a:xfrm rot="302400">
            <a:off x="10488574" y="6835373"/>
            <a:ext cx="2212848" cy="665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6"/>
              </a:lnSpc>
            </a:pPr>
            <a:r>
              <a:rPr lang="en-US" sz="3918" b="true">
                <a:solidFill>
                  <a:srgbClr val="F8E8C5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EXCLUIR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3497244" y="6854356"/>
            <a:ext cx="4790756" cy="2579949"/>
          </a:xfrm>
          <a:custGeom>
            <a:avLst/>
            <a:gdLst/>
            <a:ahLst/>
            <a:cxnLst/>
            <a:rect r="r" b="b" t="t" l="l"/>
            <a:pathLst>
              <a:path h="2579949" w="4790756">
                <a:moveTo>
                  <a:pt x="0" y="0"/>
                </a:moveTo>
                <a:lnTo>
                  <a:pt x="4790756" y="0"/>
                </a:lnTo>
                <a:lnTo>
                  <a:pt x="4790756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486000">
            <a:off x="14162585" y="7616114"/>
            <a:ext cx="3072384" cy="9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5"/>
              </a:lnSpc>
            </a:pPr>
            <a:r>
              <a:rPr lang="en-US" b="true" sz="3595">
                <a:solidFill>
                  <a:srgbClr val="002352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BIBLIOTECA DOS AMIGOS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1112804" cy="10287000"/>
          </a:xfrm>
          <a:custGeom>
            <a:avLst/>
            <a:gdLst/>
            <a:ahLst/>
            <a:cxnLst/>
            <a:rect r="r" b="b" t="t" l="l"/>
            <a:pathLst>
              <a:path h="10287000" w="11112804">
                <a:moveTo>
                  <a:pt x="0" y="0"/>
                </a:moveTo>
                <a:lnTo>
                  <a:pt x="11112804" y="0"/>
                </a:lnTo>
                <a:lnTo>
                  <a:pt x="1111280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94560" y="3771717"/>
            <a:ext cx="2523744" cy="736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3"/>
              </a:lnSpc>
            </a:pPr>
            <a:r>
              <a:rPr lang="en-US" sz="2648" spc="-79" b="true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criação segura</a:t>
            </a:r>
          </a:p>
          <a:p>
            <a:pPr algn="l">
              <a:lnSpc>
                <a:spcPts val="2913"/>
              </a:lnSpc>
            </a:pPr>
            <a:r>
              <a:rPr lang="en-US" sz="2648" spc="-79" b="true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das credenciais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176622" y="4493047"/>
            <a:ext cx="875024" cy="874559"/>
          </a:xfrm>
          <a:custGeom>
            <a:avLst/>
            <a:gdLst/>
            <a:ahLst/>
            <a:cxnLst/>
            <a:rect r="r" b="b" t="t" l="l"/>
            <a:pathLst>
              <a:path h="874559" w="875024">
                <a:moveTo>
                  <a:pt x="0" y="0"/>
                </a:moveTo>
                <a:lnTo>
                  <a:pt x="875024" y="0"/>
                </a:lnTo>
                <a:lnTo>
                  <a:pt x="87502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176622" y="6209369"/>
            <a:ext cx="875024" cy="655919"/>
          </a:xfrm>
          <a:custGeom>
            <a:avLst/>
            <a:gdLst/>
            <a:ahLst/>
            <a:cxnLst/>
            <a:rect r="r" b="b" t="t" l="l"/>
            <a:pathLst>
              <a:path h="655919" w="875024">
                <a:moveTo>
                  <a:pt x="0" y="0"/>
                </a:moveTo>
                <a:lnTo>
                  <a:pt x="875024" y="0"/>
                </a:lnTo>
                <a:lnTo>
                  <a:pt x="87502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176622" y="7925691"/>
            <a:ext cx="875024" cy="655919"/>
          </a:xfrm>
          <a:custGeom>
            <a:avLst/>
            <a:gdLst/>
            <a:ahLst/>
            <a:cxnLst/>
            <a:rect r="r" b="b" t="t" l="l"/>
            <a:pathLst>
              <a:path h="655919" w="875024">
                <a:moveTo>
                  <a:pt x="0" y="0"/>
                </a:moveTo>
                <a:lnTo>
                  <a:pt x="875024" y="0"/>
                </a:lnTo>
                <a:lnTo>
                  <a:pt x="87502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391144" y="0"/>
            <a:ext cx="10249461" cy="10249461"/>
          </a:xfrm>
          <a:custGeom>
            <a:avLst/>
            <a:gdLst/>
            <a:ahLst/>
            <a:cxnLst/>
            <a:rect r="r" b="b" t="t" l="l"/>
            <a:pathLst>
              <a:path h="10249461" w="10249461">
                <a:moveTo>
                  <a:pt x="0" y="0"/>
                </a:moveTo>
                <a:lnTo>
                  <a:pt x="10249461" y="0"/>
                </a:lnTo>
                <a:lnTo>
                  <a:pt x="10249461" y="10249461"/>
                </a:lnTo>
                <a:lnTo>
                  <a:pt x="0" y="102494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6724795">
            <a:off x="5536474" y="-921449"/>
            <a:ext cx="4196911" cy="5056520"/>
          </a:xfrm>
          <a:custGeom>
            <a:avLst/>
            <a:gdLst/>
            <a:ahLst/>
            <a:cxnLst/>
            <a:rect r="r" b="b" t="t" l="l"/>
            <a:pathLst>
              <a:path h="5056520" w="4196911">
                <a:moveTo>
                  <a:pt x="0" y="0"/>
                </a:moveTo>
                <a:lnTo>
                  <a:pt x="4196911" y="0"/>
                </a:lnTo>
                <a:lnTo>
                  <a:pt x="4196911" y="5056519"/>
                </a:lnTo>
                <a:lnTo>
                  <a:pt x="0" y="50565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4128" y="1192969"/>
            <a:ext cx="6986016" cy="845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5"/>
              </a:lnSpc>
            </a:pPr>
            <a:r>
              <a:rPr lang="en-US" b="true" sz="6365" spc="-19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COMO FUNCIONA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4128" y="2145631"/>
            <a:ext cx="5230368" cy="1197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6"/>
              </a:lnSpc>
            </a:pPr>
            <a:r>
              <a:rPr lang="en-US" b="true" sz="9096" spc="-272">
                <a:solidFill>
                  <a:srgbClr val="D6627D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 LOGIN?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15568" y="3741520"/>
            <a:ext cx="676656" cy="666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7"/>
              </a:lnSpc>
            </a:pPr>
            <a:r>
              <a:rPr lang="en-US" b="true" sz="5047" spc="-151">
                <a:solidFill>
                  <a:srgbClr val="D6627D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5568" y="5385692"/>
            <a:ext cx="676656" cy="558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7"/>
              </a:lnSpc>
            </a:pPr>
            <a:r>
              <a:rPr lang="en-US" b="true" sz="4257" spc="-127">
                <a:solidFill>
                  <a:srgbClr val="00C2CB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94560" y="5366202"/>
            <a:ext cx="3566160" cy="736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3"/>
              </a:lnSpc>
            </a:pPr>
            <a:r>
              <a:rPr lang="en-US" sz="2648" spc="-79" b="true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verificação dos dados</a:t>
            </a:r>
          </a:p>
          <a:p>
            <a:pPr algn="l">
              <a:lnSpc>
                <a:spcPts val="2913"/>
              </a:lnSpc>
            </a:pPr>
            <a:r>
              <a:rPr lang="en-US" sz="2648" spc="-7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para garantir validade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15568" y="7083047"/>
            <a:ext cx="676656" cy="558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7"/>
              </a:lnSpc>
            </a:pPr>
            <a:r>
              <a:rPr lang="en-US" b="true" sz="4257" spc="-127">
                <a:solidFill>
                  <a:srgbClr val="FFDE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94560" y="7033785"/>
            <a:ext cx="2779776" cy="71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6"/>
              </a:lnSpc>
            </a:pPr>
            <a:r>
              <a:rPr lang="en-US" sz="2578" spc="-77" b="true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autenticação</a:t>
            </a:r>
            <a:r>
              <a:rPr lang="en-US" sz="2578" spc="-77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que</a:t>
            </a:r>
          </a:p>
          <a:p>
            <a:pPr algn="l">
              <a:lnSpc>
                <a:spcPts val="2836"/>
              </a:lnSpc>
            </a:pPr>
            <a:r>
              <a:rPr lang="en-US" sz="2578" spc="-77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libera o acesso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15568" y="8790689"/>
            <a:ext cx="676656" cy="558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7"/>
              </a:lnSpc>
            </a:pPr>
            <a:r>
              <a:rPr lang="en-US" b="true" sz="4257" spc="-127">
                <a:solidFill>
                  <a:srgbClr val="00C2CB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04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94560" y="8657175"/>
            <a:ext cx="3218688" cy="758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1"/>
              </a:lnSpc>
            </a:pPr>
            <a:r>
              <a:rPr lang="en-US" sz="2683" spc="-80" b="true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sessão segura</a:t>
            </a:r>
          </a:p>
          <a:p>
            <a:pPr algn="l">
              <a:lnSpc>
                <a:spcPts val="2951"/>
              </a:lnSpc>
            </a:pPr>
            <a:r>
              <a:rPr lang="en-US" sz="2683" spc="-8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para uso do sistema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78488" y="0"/>
            <a:ext cx="5009512" cy="3432644"/>
          </a:xfrm>
          <a:custGeom>
            <a:avLst/>
            <a:gdLst/>
            <a:ahLst/>
            <a:cxnLst/>
            <a:rect r="r" b="b" t="t" l="l"/>
            <a:pathLst>
              <a:path h="3432644" w="5009512">
                <a:moveTo>
                  <a:pt x="0" y="0"/>
                </a:moveTo>
                <a:lnTo>
                  <a:pt x="5009512" y="0"/>
                </a:lnTo>
                <a:lnTo>
                  <a:pt x="5009512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86384" y="788496"/>
            <a:ext cx="9070848" cy="973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4"/>
              </a:lnSpc>
            </a:pPr>
            <a:r>
              <a:rPr lang="en-US" b="true" sz="7354" spc="-147">
                <a:solidFill>
                  <a:srgbClr val="FFFFFF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FUNÇÕES DO CRUD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41248" y="3808398"/>
            <a:ext cx="8961120" cy="448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8"/>
              </a:lnSpc>
            </a:pPr>
            <a:r>
              <a:rPr lang="en-US" sz="2990" spc="-59" b="true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Cada amigo é como um livro no nosso catálogo.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5356674"/>
            <a:ext cx="4145426" cy="4503979"/>
          </a:xfrm>
          <a:custGeom>
            <a:avLst/>
            <a:gdLst/>
            <a:ahLst/>
            <a:cxnLst/>
            <a:rect r="r" b="b" t="t" l="l"/>
            <a:pathLst>
              <a:path h="4503979" w="4145426">
                <a:moveTo>
                  <a:pt x="0" y="0"/>
                </a:moveTo>
                <a:lnTo>
                  <a:pt x="4145426" y="0"/>
                </a:lnTo>
                <a:lnTo>
                  <a:pt x="4145426" y="4503978"/>
                </a:lnTo>
                <a:lnTo>
                  <a:pt x="0" y="45039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39110" y="4493047"/>
            <a:ext cx="1968804" cy="1945894"/>
          </a:xfrm>
          <a:custGeom>
            <a:avLst/>
            <a:gdLst/>
            <a:ahLst/>
            <a:cxnLst/>
            <a:rect r="r" b="b" t="t" l="l"/>
            <a:pathLst>
              <a:path h="1945894" w="1968804">
                <a:moveTo>
                  <a:pt x="0" y="0"/>
                </a:moveTo>
                <a:lnTo>
                  <a:pt x="1968804" y="0"/>
                </a:lnTo>
                <a:lnTo>
                  <a:pt x="1968804" y="1945893"/>
                </a:lnTo>
                <a:lnTo>
                  <a:pt x="0" y="19458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957866" y="4919394"/>
            <a:ext cx="1531292" cy="1082267"/>
          </a:xfrm>
          <a:custGeom>
            <a:avLst/>
            <a:gdLst/>
            <a:ahLst/>
            <a:cxnLst/>
            <a:rect r="r" b="b" t="t" l="l"/>
            <a:pathLst>
              <a:path h="1082267" w="1531292">
                <a:moveTo>
                  <a:pt x="0" y="0"/>
                </a:moveTo>
                <a:lnTo>
                  <a:pt x="1531292" y="0"/>
                </a:lnTo>
                <a:lnTo>
                  <a:pt x="153129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19072" y="6590227"/>
            <a:ext cx="2066544" cy="515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8"/>
              </a:lnSpc>
            </a:pPr>
            <a:r>
              <a:rPr lang="en-US" b="true" sz="3938" spc="-78">
                <a:solidFill>
                  <a:srgbClr val="FFFFFF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CREATE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6736" y="7238757"/>
            <a:ext cx="2962656" cy="80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8"/>
              </a:lnSpc>
            </a:pPr>
            <a:r>
              <a:rPr lang="en-US" b="true" sz="2723" spc="-54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cadastrar um novo amigo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20354" y="8133399"/>
            <a:ext cx="2625072" cy="229572"/>
          </a:xfrm>
          <a:custGeom>
            <a:avLst/>
            <a:gdLst/>
            <a:ahLst/>
            <a:cxnLst/>
            <a:rect r="r" b="b" t="t" l="l"/>
            <a:pathLst>
              <a:path h="229572" w="2625072">
                <a:moveTo>
                  <a:pt x="0" y="0"/>
                </a:moveTo>
                <a:lnTo>
                  <a:pt x="2625072" y="0"/>
                </a:lnTo>
                <a:lnTo>
                  <a:pt x="262507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17904" y="8662995"/>
            <a:ext cx="2670048" cy="687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5"/>
              </a:lnSpc>
            </a:pPr>
            <a:r>
              <a:rPr lang="en-US" b="true" sz="2271" spc="-45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adicionar um novo livro ao catálogo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4998574" y="5356674"/>
            <a:ext cx="3937608" cy="4503979"/>
          </a:xfrm>
          <a:custGeom>
            <a:avLst/>
            <a:gdLst/>
            <a:ahLst/>
            <a:cxnLst/>
            <a:rect r="r" b="b" t="t" l="l"/>
            <a:pathLst>
              <a:path h="4503979" w="3937608">
                <a:moveTo>
                  <a:pt x="0" y="0"/>
                </a:moveTo>
                <a:lnTo>
                  <a:pt x="3937608" y="0"/>
                </a:lnTo>
                <a:lnTo>
                  <a:pt x="3937608" y="4503978"/>
                </a:lnTo>
                <a:lnTo>
                  <a:pt x="0" y="45039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873598" y="4493047"/>
            <a:ext cx="2187560" cy="1945894"/>
          </a:xfrm>
          <a:custGeom>
            <a:avLst/>
            <a:gdLst/>
            <a:ahLst/>
            <a:cxnLst/>
            <a:rect r="r" b="b" t="t" l="l"/>
            <a:pathLst>
              <a:path h="1945894" w="2187560">
                <a:moveTo>
                  <a:pt x="0" y="0"/>
                </a:moveTo>
                <a:lnTo>
                  <a:pt x="2187560" y="0"/>
                </a:lnTo>
                <a:lnTo>
                  <a:pt x="2187560" y="1945893"/>
                </a:lnTo>
                <a:lnTo>
                  <a:pt x="0" y="194589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311110" y="4711687"/>
            <a:ext cx="1312536" cy="1289974"/>
          </a:xfrm>
          <a:custGeom>
            <a:avLst/>
            <a:gdLst/>
            <a:ahLst/>
            <a:cxnLst/>
            <a:rect r="r" b="b" t="t" l="l"/>
            <a:pathLst>
              <a:path h="1289974" w="1312536">
                <a:moveTo>
                  <a:pt x="0" y="0"/>
                </a:moveTo>
                <a:lnTo>
                  <a:pt x="1312536" y="0"/>
                </a:lnTo>
                <a:lnTo>
                  <a:pt x="131253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272784" y="6584369"/>
            <a:ext cx="1463040" cy="527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9"/>
              </a:lnSpc>
            </a:pPr>
            <a:r>
              <a:rPr lang="en-US" b="true" sz="3969" spc="-79">
                <a:solidFill>
                  <a:srgbClr val="FFFFFF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READ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632704" y="7249689"/>
            <a:ext cx="2816352" cy="787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3"/>
              </a:lnSpc>
            </a:pPr>
            <a:r>
              <a:rPr lang="en-US" b="true" sz="2594" spc="-51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consultar amigos cadastrados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5654842" y="8133399"/>
            <a:ext cx="2625072" cy="229572"/>
          </a:xfrm>
          <a:custGeom>
            <a:avLst/>
            <a:gdLst/>
            <a:ahLst/>
            <a:cxnLst/>
            <a:rect r="r" b="b" t="t" l="l"/>
            <a:pathLst>
              <a:path h="229572" w="2625072">
                <a:moveTo>
                  <a:pt x="0" y="0"/>
                </a:moveTo>
                <a:lnTo>
                  <a:pt x="2625072" y="0"/>
                </a:lnTo>
                <a:lnTo>
                  <a:pt x="262507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742432" y="8650656"/>
            <a:ext cx="2670048" cy="721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9"/>
              </a:lnSpc>
            </a:pPr>
            <a:r>
              <a:rPr lang="en-US" b="true" sz="2433" spc="-48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consultar os livros disponíveis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9351818" y="5356674"/>
            <a:ext cx="3937608" cy="4503979"/>
          </a:xfrm>
          <a:custGeom>
            <a:avLst/>
            <a:gdLst/>
            <a:ahLst/>
            <a:cxnLst/>
            <a:rect r="r" b="b" t="t" l="l"/>
            <a:pathLst>
              <a:path h="4503979" w="3937608">
                <a:moveTo>
                  <a:pt x="0" y="0"/>
                </a:moveTo>
                <a:lnTo>
                  <a:pt x="3937608" y="0"/>
                </a:lnTo>
                <a:lnTo>
                  <a:pt x="3937608" y="4503978"/>
                </a:lnTo>
                <a:lnTo>
                  <a:pt x="0" y="450397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226842" y="4493047"/>
            <a:ext cx="1968804" cy="1945894"/>
          </a:xfrm>
          <a:custGeom>
            <a:avLst/>
            <a:gdLst/>
            <a:ahLst/>
            <a:cxnLst/>
            <a:rect r="r" b="b" t="t" l="l"/>
            <a:pathLst>
              <a:path h="1945894" w="1968804">
                <a:moveTo>
                  <a:pt x="0" y="0"/>
                </a:moveTo>
                <a:lnTo>
                  <a:pt x="1968804" y="0"/>
                </a:lnTo>
                <a:lnTo>
                  <a:pt x="1968804" y="1945893"/>
                </a:lnTo>
                <a:lnTo>
                  <a:pt x="0" y="194589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664354" y="4711687"/>
            <a:ext cx="1312536" cy="1289974"/>
          </a:xfrm>
          <a:custGeom>
            <a:avLst/>
            <a:gdLst/>
            <a:ahLst/>
            <a:cxnLst/>
            <a:rect r="r" b="b" t="t" l="l"/>
            <a:pathLst>
              <a:path h="1289974" w="1312536">
                <a:moveTo>
                  <a:pt x="0" y="0"/>
                </a:moveTo>
                <a:lnTo>
                  <a:pt x="1312536" y="0"/>
                </a:lnTo>
                <a:lnTo>
                  <a:pt x="131253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222992" y="6591013"/>
            <a:ext cx="2066544" cy="514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</a:pPr>
            <a:r>
              <a:rPr lang="en-US" b="true" sz="3876" spc="-77">
                <a:solidFill>
                  <a:srgbClr val="FFFFFF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UPDATE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003536" y="7249689"/>
            <a:ext cx="2523744" cy="787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3"/>
              </a:lnSpc>
            </a:pPr>
            <a:r>
              <a:rPr lang="en-US" b="true" sz="2594" spc="-51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atualizar dados de amigo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0008086" y="8133399"/>
            <a:ext cx="2625072" cy="229572"/>
          </a:xfrm>
          <a:custGeom>
            <a:avLst/>
            <a:gdLst/>
            <a:ahLst/>
            <a:cxnLst/>
            <a:rect r="r" b="b" t="t" l="l"/>
            <a:pathLst>
              <a:path h="229572" w="2625072">
                <a:moveTo>
                  <a:pt x="0" y="0"/>
                </a:moveTo>
                <a:lnTo>
                  <a:pt x="2625072" y="0"/>
                </a:lnTo>
                <a:lnTo>
                  <a:pt x="262507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9838944" y="8672520"/>
            <a:ext cx="2907792" cy="677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b="true" sz="2239" spc="-44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atualizar as informações do livro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3497244" y="5356674"/>
            <a:ext cx="3926670" cy="4503979"/>
          </a:xfrm>
          <a:custGeom>
            <a:avLst/>
            <a:gdLst/>
            <a:ahLst/>
            <a:cxnLst/>
            <a:rect r="r" b="b" t="t" l="l"/>
            <a:pathLst>
              <a:path h="4503979" w="3926670">
                <a:moveTo>
                  <a:pt x="0" y="0"/>
                </a:moveTo>
                <a:lnTo>
                  <a:pt x="3926670" y="0"/>
                </a:lnTo>
                <a:lnTo>
                  <a:pt x="3926670" y="4503978"/>
                </a:lnTo>
                <a:lnTo>
                  <a:pt x="0" y="450397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4361330" y="4493047"/>
            <a:ext cx="1968804" cy="1945894"/>
          </a:xfrm>
          <a:custGeom>
            <a:avLst/>
            <a:gdLst/>
            <a:ahLst/>
            <a:cxnLst/>
            <a:rect r="r" b="b" t="t" l="l"/>
            <a:pathLst>
              <a:path h="1945894" w="1968804">
                <a:moveTo>
                  <a:pt x="0" y="0"/>
                </a:moveTo>
                <a:lnTo>
                  <a:pt x="1968804" y="0"/>
                </a:lnTo>
                <a:lnTo>
                  <a:pt x="1968804" y="1945893"/>
                </a:lnTo>
                <a:lnTo>
                  <a:pt x="0" y="194589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4798842" y="4711687"/>
            <a:ext cx="1104718" cy="1289974"/>
          </a:xfrm>
          <a:custGeom>
            <a:avLst/>
            <a:gdLst/>
            <a:ahLst/>
            <a:cxnLst/>
            <a:rect r="r" b="b" t="t" l="l"/>
            <a:pathLst>
              <a:path h="1289974" w="1104718">
                <a:moveTo>
                  <a:pt x="0" y="0"/>
                </a:moveTo>
                <a:lnTo>
                  <a:pt x="1104718" y="0"/>
                </a:lnTo>
                <a:lnTo>
                  <a:pt x="1104718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4447520" y="6590227"/>
            <a:ext cx="1975104" cy="515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8"/>
              </a:lnSpc>
            </a:pPr>
            <a:r>
              <a:rPr lang="en-US" b="true" sz="3938" spc="-78">
                <a:solidFill>
                  <a:srgbClr val="FFFFFF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DELETE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228064" y="7238757"/>
            <a:ext cx="2523744" cy="80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8"/>
              </a:lnSpc>
            </a:pPr>
            <a:r>
              <a:rPr lang="en-US" b="true" sz="2723" spc="-54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remover amigo da lista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4142574" y="8133399"/>
            <a:ext cx="2625072" cy="229572"/>
          </a:xfrm>
          <a:custGeom>
            <a:avLst/>
            <a:gdLst/>
            <a:ahLst/>
            <a:cxnLst/>
            <a:rect r="r" b="b" t="t" l="l"/>
            <a:pathLst>
              <a:path h="229572" w="2625072">
                <a:moveTo>
                  <a:pt x="0" y="0"/>
                </a:moveTo>
                <a:lnTo>
                  <a:pt x="2625072" y="0"/>
                </a:lnTo>
                <a:lnTo>
                  <a:pt x="262507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4520672" y="8662995"/>
            <a:ext cx="1865376" cy="687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5"/>
              </a:lnSpc>
            </a:pPr>
            <a:r>
              <a:rPr lang="en-US" b="true" sz="2271" spc="-45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retirar o livro do catálogo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4572000" y="6635716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8706488" y="6635716"/>
            <a:ext cx="875024" cy="655919"/>
          </a:xfrm>
          <a:custGeom>
            <a:avLst/>
            <a:gdLst/>
            <a:ahLst/>
            <a:cxnLst/>
            <a:rect r="r" b="b" t="t" l="l"/>
            <a:pathLst>
              <a:path h="655919" w="875024">
                <a:moveTo>
                  <a:pt x="0" y="0"/>
                </a:moveTo>
                <a:lnTo>
                  <a:pt x="875024" y="0"/>
                </a:lnTo>
                <a:lnTo>
                  <a:pt x="87502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3059732" y="6635716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786384" y="1812153"/>
            <a:ext cx="8046720" cy="1987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1"/>
              </a:lnSpc>
            </a:pPr>
            <a:r>
              <a:rPr lang="en-US" b="true" sz="8001" spc="-160">
                <a:solidFill>
                  <a:srgbClr val="D66B75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NA BIBLIOTECA</a:t>
            </a:r>
          </a:p>
          <a:p>
            <a:pPr algn="l">
              <a:lnSpc>
                <a:spcPts val="7601"/>
              </a:lnSpc>
            </a:pPr>
            <a:r>
              <a:rPr lang="en-US" b="true" sz="8001" spc="-160">
                <a:solidFill>
                  <a:srgbClr val="D66B75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DOS AMIGOS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41248" y="670932"/>
            <a:ext cx="7717536" cy="1200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17"/>
              </a:lnSpc>
            </a:pPr>
            <a:r>
              <a:rPr lang="en-US" sz="7012">
                <a:solidFill>
                  <a:srgbClr val="E8F0F8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PASSO A PASSO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1248" y="1709919"/>
            <a:ext cx="9564624" cy="1200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17"/>
              </a:lnSpc>
            </a:pPr>
            <a:r>
              <a:rPr lang="en-US" sz="7012">
                <a:solidFill>
                  <a:srgbClr val="E17386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PRÁTICO DO CRUD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3214004"/>
            <a:ext cx="3926670" cy="4296271"/>
          </a:xfrm>
          <a:custGeom>
            <a:avLst/>
            <a:gdLst/>
            <a:ahLst/>
            <a:cxnLst/>
            <a:rect r="r" b="b" t="t" l="l"/>
            <a:pathLst>
              <a:path h="4296271" w="3926670">
                <a:moveTo>
                  <a:pt x="0" y="0"/>
                </a:moveTo>
                <a:lnTo>
                  <a:pt x="3926670" y="0"/>
                </a:lnTo>
                <a:lnTo>
                  <a:pt x="3926670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5330" y="3214004"/>
            <a:ext cx="3926670" cy="1508614"/>
          </a:xfrm>
          <a:custGeom>
            <a:avLst/>
            <a:gdLst/>
            <a:ahLst/>
            <a:cxnLst/>
            <a:rect r="r" b="b" t="t" l="l"/>
            <a:pathLst>
              <a:path h="1508614" w="3926670">
                <a:moveTo>
                  <a:pt x="0" y="0"/>
                </a:moveTo>
                <a:lnTo>
                  <a:pt x="3926670" y="0"/>
                </a:lnTo>
                <a:lnTo>
                  <a:pt x="392667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38528" y="3771823"/>
            <a:ext cx="1572768" cy="59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3"/>
              </a:lnSpc>
            </a:pPr>
            <a:r>
              <a:rPr lang="en-US" sz="350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CRIAR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8448" y="5142142"/>
            <a:ext cx="2523744" cy="1682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1"/>
              </a:lnSpc>
            </a:pPr>
            <a:r>
              <a:rPr lang="en-US" sz="24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Cadastro rápido dos amigos com as informações essenciais.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572000" y="5138034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998574" y="3214004"/>
            <a:ext cx="3937608" cy="4296271"/>
          </a:xfrm>
          <a:custGeom>
            <a:avLst/>
            <a:gdLst/>
            <a:ahLst/>
            <a:cxnLst/>
            <a:rect r="r" b="b" t="t" l="l"/>
            <a:pathLst>
              <a:path h="4296271" w="3937608">
                <a:moveTo>
                  <a:pt x="0" y="0"/>
                </a:moveTo>
                <a:lnTo>
                  <a:pt x="3937608" y="0"/>
                </a:lnTo>
                <a:lnTo>
                  <a:pt x="3937608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998574" y="3214004"/>
            <a:ext cx="3937608" cy="1508614"/>
          </a:xfrm>
          <a:custGeom>
            <a:avLst/>
            <a:gdLst/>
            <a:ahLst/>
            <a:cxnLst/>
            <a:rect r="r" b="b" t="t" l="l"/>
            <a:pathLst>
              <a:path h="1508614" w="3937608">
                <a:moveTo>
                  <a:pt x="0" y="0"/>
                </a:moveTo>
                <a:lnTo>
                  <a:pt x="3937608" y="0"/>
                </a:lnTo>
                <a:lnTo>
                  <a:pt x="393760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559552" y="5121508"/>
            <a:ext cx="2523744" cy="1723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6"/>
              </a:lnSpc>
            </a:pPr>
            <a:r>
              <a:rPr lang="en-US" sz="2497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Visualize todos os amigos cadastrados em uma lista clara.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706488" y="5138034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351818" y="3214004"/>
            <a:ext cx="3937608" cy="4296271"/>
          </a:xfrm>
          <a:custGeom>
            <a:avLst/>
            <a:gdLst/>
            <a:ahLst/>
            <a:cxnLst/>
            <a:rect r="r" b="b" t="t" l="l"/>
            <a:pathLst>
              <a:path h="4296271" w="3937608">
                <a:moveTo>
                  <a:pt x="0" y="0"/>
                </a:moveTo>
                <a:lnTo>
                  <a:pt x="3937608" y="0"/>
                </a:lnTo>
                <a:lnTo>
                  <a:pt x="3937608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351818" y="3214004"/>
            <a:ext cx="3937608" cy="1508614"/>
          </a:xfrm>
          <a:custGeom>
            <a:avLst/>
            <a:gdLst/>
            <a:ahLst/>
            <a:cxnLst/>
            <a:rect r="r" b="b" t="t" l="l"/>
            <a:pathLst>
              <a:path h="1508614" w="3937608">
                <a:moveTo>
                  <a:pt x="0" y="0"/>
                </a:moveTo>
                <a:lnTo>
                  <a:pt x="3937608" y="0"/>
                </a:lnTo>
                <a:lnTo>
                  <a:pt x="393760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893808" y="3771823"/>
            <a:ext cx="2779776" cy="59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3"/>
              </a:lnSpc>
            </a:pPr>
            <a:r>
              <a:rPr lang="en-US" sz="350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ATUALIZAR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93808" y="5090529"/>
            <a:ext cx="2359152" cy="177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1"/>
              </a:lnSpc>
            </a:pPr>
            <a:r>
              <a:rPr lang="en-US" sz="252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Edite os dados do amigo e confirme as alterações.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3059732" y="5138034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716000" y="3214004"/>
            <a:ext cx="3707914" cy="4296271"/>
          </a:xfrm>
          <a:custGeom>
            <a:avLst/>
            <a:gdLst/>
            <a:ahLst/>
            <a:cxnLst/>
            <a:rect r="r" b="b" t="t" l="l"/>
            <a:pathLst>
              <a:path h="4296271" w="3707914">
                <a:moveTo>
                  <a:pt x="0" y="0"/>
                </a:moveTo>
                <a:lnTo>
                  <a:pt x="3707914" y="0"/>
                </a:lnTo>
                <a:lnTo>
                  <a:pt x="3707914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716000" y="3214004"/>
            <a:ext cx="3707914" cy="1508614"/>
          </a:xfrm>
          <a:custGeom>
            <a:avLst/>
            <a:gdLst/>
            <a:ahLst/>
            <a:cxnLst/>
            <a:rect r="r" b="b" t="t" l="l"/>
            <a:pathLst>
              <a:path h="1508614" w="3707914">
                <a:moveTo>
                  <a:pt x="0" y="0"/>
                </a:moveTo>
                <a:lnTo>
                  <a:pt x="3707914" y="0"/>
                </a:lnTo>
                <a:lnTo>
                  <a:pt x="370791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4484096" y="3771823"/>
            <a:ext cx="2121408" cy="59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3"/>
              </a:lnSpc>
            </a:pPr>
            <a:r>
              <a:rPr lang="en-US" sz="350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EXCLUIR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154912" y="5144546"/>
            <a:ext cx="2889504" cy="1658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5"/>
              </a:lnSpc>
            </a:pPr>
            <a:r>
              <a:rPr lang="en-US" sz="2368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Remova um amigo com segurança após alerta de confirmação.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645330" y="7707051"/>
            <a:ext cx="16778584" cy="1945894"/>
          </a:xfrm>
          <a:custGeom>
            <a:avLst/>
            <a:gdLst/>
            <a:ahLst/>
            <a:cxnLst/>
            <a:rect r="r" b="b" t="t" l="l"/>
            <a:pathLst>
              <a:path h="1945894" w="16778584">
                <a:moveTo>
                  <a:pt x="0" y="0"/>
                </a:moveTo>
                <a:lnTo>
                  <a:pt x="16778584" y="0"/>
                </a:lnTo>
                <a:lnTo>
                  <a:pt x="16778584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371600" y="8195377"/>
            <a:ext cx="2450592" cy="1150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0"/>
              </a:lnSpc>
            </a:pPr>
            <a:r>
              <a:rPr lang="en-US" sz="3594">
                <a:solidFill>
                  <a:srgbClr val="F1C84C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VÍDEOS PRÁTICOS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4134488" y="8133399"/>
            <a:ext cx="229694" cy="1300906"/>
          </a:xfrm>
          <a:custGeom>
            <a:avLst/>
            <a:gdLst/>
            <a:ahLst/>
            <a:cxnLst/>
            <a:rect r="r" b="b" t="t" l="l"/>
            <a:pathLst>
              <a:path h="1300906" w="229694">
                <a:moveTo>
                  <a:pt x="0" y="0"/>
                </a:moveTo>
                <a:lnTo>
                  <a:pt x="229694" y="0"/>
                </a:lnTo>
                <a:lnTo>
                  <a:pt x="229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4846320" y="8276553"/>
            <a:ext cx="8266176" cy="929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2"/>
              </a:lnSpc>
            </a:pPr>
            <a:r>
              <a:rPr lang="en-US" sz="2687" b="true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Veja o fluxo completo em ação: login, cadastro, edição e exclusão explicados na prática.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510528" y="3771823"/>
            <a:ext cx="932688" cy="59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3"/>
              </a:lnSpc>
            </a:pPr>
            <a:r>
              <a:rPr lang="en-US" sz="350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4944" y="2027564"/>
            <a:ext cx="4864608" cy="709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82"/>
              </a:lnSpc>
            </a:pPr>
            <a:r>
              <a:rPr lang="en-US" sz="5382" b="true">
                <a:solidFill>
                  <a:srgbClr val="C1E4E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HABILIDADES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94944" y="3158679"/>
            <a:ext cx="7735824" cy="1767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1"/>
              </a:lnSpc>
            </a:pPr>
            <a:r>
              <a:rPr lang="en-US" sz="6851" b="true">
                <a:solidFill>
                  <a:srgbClr val="E67A8C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TÉCNICAS DESENVOLVIDAS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5564382"/>
            <a:ext cx="448450" cy="2153601"/>
          </a:xfrm>
          <a:custGeom>
            <a:avLst/>
            <a:gdLst/>
            <a:ahLst/>
            <a:cxnLst/>
            <a:rect r="r" b="b" t="t" l="l"/>
            <a:pathLst>
              <a:path h="2153601" w="448450">
                <a:moveTo>
                  <a:pt x="0" y="0"/>
                </a:moveTo>
                <a:lnTo>
                  <a:pt x="448450" y="0"/>
                </a:lnTo>
                <a:lnTo>
                  <a:pt x="44845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43584" y="5763120"/>
            <a:ext cx="4096512" cy="183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6"/>
              </a:lnSpc>
            </a:pPr>
            <a:r>
              <a:rPr lang="en-US" sz="3030" b="true">
                <a:solidFill>
                  <a:srgbClr val="C1E4E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As competências que fortalecem o Sistema de Cadastro de Amigos da Gabi.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144000" y="852695"/>
            <a:ext cx="8279914" cy="1508614"/>
          </a:xfrm>
          <a:custGeom>
            <a:avLst/>
            <a:gdLst/>
            <a:ahLst/>
            <a:cxnLst/>
            <a:rect r="r" b="b" t="t" l="l"/>
            <a:pathLst>
              <a:path h="1508614" w="8279914">
                <a:moveTo>
                  <a:pt x="0" y="0"/>
                </a:moveTo>
                <a:lnTo>
                  <a:pt x="8279914" y="0"/>
                </a:lnTo>
                <a:lnTo>
                  <a:pt x="827991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582912" y="1328728"/>
            <a:ext cx="914400" cy="861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99"/>
              </a:lnSpc>
            </a:pPr>
            <a:r>
              <a:rPr lang="en-US" b="true" sz="6499">
                <a:solidFill>
                  <a:srgbClr val="C1E4E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01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664354" y="1071335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228832" y="1435632"/>
            <a:ext cx="4352544" cy="502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4"/>
              </a:lnSpc>
            </a:pPr>
            <a:r>
              <a:rPr lang="en-US" sz="1703" b="true">
                <a:solidFill>
                  <a:srgbClr val="C1E4E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Desenvolvimento front-end e back-end integrados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144000" y="2350377"/>
            <a:ext cx="8279914" cy="1508614"/>
          </a:xfrm>
          <a:custGeom>
            <a:avLst/>
            <a:gdLst/>
            <a:ahLst/>
            <a:cxnLst/>
            <a:rect r="r" b="b" t="t" l="l"/>
            <a:pathLst>
              <a:path h="1508614" w="8279914">
                <a:moveTo>
                  <a:pt x="0" y="0"/>
                </a:moveTo>
                <a:lnTo>
                  <a:pt x="8279914" y="0"/>
                </a:lnTo>
                <a:lnTo>
                  <a:pt x="827991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582912" y="2745931"/>
            <a:ext cx="914400" cy="723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3"/>
              </a:lnSpc>
            </a:pPr>
            <a:r>
              <a:rPr lang="en-US" b="true" sz="5493">
                <a:solidFill>
                  <a:srgbClr val="C1E4E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02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664354" y="2569017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228832" y="2715057"/>
            <a:ext cx="4352544" cy="721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6"/>
              </a:lnSpc>
            </a:pPr>
            <a:r>
              <a:rPr lang="en-US" sz="2438" b="true">
                <a:solidFill>
                  <a:srgbClr val="C1E4E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Manipulação e persistência de dados em banco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9144000" y="3640352"/>
            <a:ext cx="8279914" cy="1508614"/>
          </a:xfrm>
          <a:custGeom>
            <a:avLst/>
            <a:gdLst/>
            <a:ahLst/>
            <a:cxnLst/>
            <a:rect r="r" b="b" t="t" l="l"/>
            <a:pathLst>
              <a:path h="1508614" w="8279914">
                <a:moveTo>
                  <a:pt x="0" y="0"/>
                </a:moveTo>
                <a:lnTo>
                  <a:pt x="8279914" y="0"/>
                </a:lnTo>
                <a:lnTo>
                  <a:pt x="827991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582912" y="4134676"/>
            <a:ext cx="914400" cy="723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3"/>
              </a:lnSpc>
            </a:pPr>
            <a:r>
              <a:rPr lang="en-US" b="true" sz="5493">
                <a:solidFill>
                  <a:srgbClr val="C1E4E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03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664354" y="3848060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228832" y="4038210"/>
            <a:ext cx="4206240" cy="852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9"/>
              </a:lnSpc>
            </a:pPr>
            <a:r>
              <a:rPr lang="en-US" sz="2858" b="true">
                <a:solidFill>
                  <a:srgbClr val="C1E4E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Autenticação e segurança no login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9144000" y="5138034"/>
            <a:ext cx="8279914" cy="1508614"/>
          </a:xfrm>
          <a:custGeom>
            <a:avLst/>
            <a:gdLst/>
            <a:ahLst/>
            <a:cxnLst/>
            <a:rect r="r" b="b" t="t" l="l"/>
            <a:pathLst>
              <a:path h="1508614" w="8279914">
                <a:moveTo>
                  <a:pt x="0" y="0"/>
                </a:moveTo>
                <a:lnTo>
                  <a:pt x="8279914" y="0"/>
                </a:lnTo>
                <a:lnTo>
                  <a:pt x="827991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582912" y="5533708"/>
            <a:ext cx="914400" cy="723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3"/>
              </a:lnSpc>
            </a:pPr>
            <a:r>
              <a:rPr lang="en-US" b="true" sz="5493">
                <a:solidFill>
                  <a:srgbClr val="C1E4E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04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0664354" y="5356674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1228832" y="5436480"/>
            <a:ext cx="3712464" cy="84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7"/>
              </a:lnSpc>
            </a:pPr>
            <a:r>
              <a:rPr lang="en-US" sz="2823" b="true">
                <a:solidFill>
                  <a:srgbClr val="C1E4E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Validação e tratamento de erros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9144000" y="6428009"/>
            <a:ext cx="8279914" cy="1508614"/>
          </a:xfrm>
          <a:custGeom>
            <a:avLst/>
            <a:gdLst/>
            <a:ahLst/>
            <a:cxnLst/>
            <a:rect r="r" b="b" t="t" l="l"/>
            <a:pathLst>
              <a:path h="1508614" w="8279914">
                <a:moveTo>
                  <a:pt x="0" y="0"/>
                </a:moveTo>
                <a:lnTo>
                  <a:pt x="8279914" y="0"/>
                </a:lnTo>
                <a:lnTo>
                  <a:pt x="827991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582912" y="6919555"/>
            <a:ext cx="914400" cy="719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b="true" sz="5401">
                <a:solidFill>
                  <a:srgbClr val="C1E4E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05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0664354" y="6635716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1228832" y="6870360"/>
            <a:ext cx="2194560" cy="74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8"/>
              </a:lnSpc>
            </a:pPr>
            <a:r>
              <a:rPr lang="en-US" sz="2473" b="true">
                <a:solidFill>
                  <a:srgbClr val="C1E4E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Uso de APIs e rotas RESTful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9144000" y="7707051"/>
            <a:ext cx="8279914" cy="1727254"/>
          </a:xfrm>
          <a:custGeom>
            <a:avLst/>
            <a:gdLst/>
            <a:ahLst/>
            <a:cxnLst/>
            <a:rect r="r" b="b" t="t" l="l"/>
            <a:pathLst>
              <a:path h="1727254" w="8279914">
                <a:moveTo>
                  <a:pt x="0" y="0"/>
                </a:moveTo>
                <a:lnTo>
                  <a:pt x="8279914" y="0"/>
                </a:lnTo>
                <a:lnTo>
                  <a:pt x="827991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664354" y="8133399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1228832" y="8248173"/>
            <a:ext cx="4791456" cy="765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4"/>
              </a:lnSpc>
            </a:pPr>
            <a:r>
              <a:rPr lang="en-US" sz="2578" b="true">
                <a:solidFill>
                  <a:srgbClr val="C1E4E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Colaboração e documentação técnica clara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868912" y="8318587"/>
            <a:ext cx="914400" cy="719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b="true" sz="5401">
                <a:solidFill>
                  <a:srgbClr val="C1E4E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46274" y="-354465"/>
            <a:ext cx="8741726" cy="10641465"/>
          </a:xfrm>
          <a:custGeom>
            <a:avLst/>
            <a:gdLst/>
            <a:ahLst/>
            <a:cxnLst/>
            <a:rect r="r" b="b" t="t" l="l"/>
            <a:pathLst>
              <a:path h="10641465" w="8741726">
                <a:moveTo>
                  <a:pt x="0" y="0"/>
                </a:moveTo>
                <a:lnTo>
                  <a:pt x="8741726" y="0"/>
                </a:lnTo>
                <a:lnTo>
                  <a:pt x="8741726" y="10641465"/>
                </a:lnTo>
                <a:lnTo>
                  <a:pt x="0" y="106414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765" r="0" b="-1176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22960" y="850051"/>
            <a:ext cx="9052560" cy="2647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7198" b="true">
                <a:solidFill>
                  <a:srgbClr val="FFFFFF"/>
                </a:solidFill>
                <a:latin typeface="Montaser Arabic Ultra-Bold"/>
                <a:ea typeface="Montaser Arabic Ultra-Bold"/>
                <a:cs typeface="Montaser Arabic Ultra-Bold"/>
                <a:sym typeface="Montaser Arabic Ultra-Bold"/>
              </a:rPr>
              <a:t>PRINCIPAIS</a:t>
            </a:r>
          </a:p>
          <a:p>
            <a:pPr algn="l">
              <a:lnSpc>
                <a:spcPts val="6838"/>
              </a:lnSpc>
            </a:pPr>
            <a:r>
              <a:rPr lang="en-US" sz="7198" b="true">
                <a:solidFill>
                  <a:srgbClr val="FFFFFF"/>
                </a:solidFill>
                <a:latin typeface="Montaser Arabic Ultra-Bold"/>
                <a:ea typeface="Montaser Arabic Ultra-Bold"/>
                <a:cs typeface="Montaser Arabic Ultra-Bold"/>
                <a:sym typeface="Montaser Arabic Ultra-Bold"/>
              </a:rPr>
              <a:t>APRENDIZADOS</a:t>
            </a:r>
          </a:p>
          <a:p>
            <a:pPr algn="l">
              <a:lnSpc>
                <a:spcPts val="6838"/>
              </a:lnSpc>
            </a:pPr>
            <a:r>
              <a:rPr lang="en-US" sz="7198" b="true">
                <a:solidFill>
                  <a:srgbClr val="E67D8C"/>
                </a:solidFill>
                <a:latin typeface="Montaser Arabic Ultra-Bold"/>
                <a:ea typeface="Montaser Arabic Ultra-Bold"/>
                <a:cs typeface="Montaser Arabic Ultra-Bold"/>
                <a:sym typeface="Montaser Arabic Ultra-Bold"/>
              </a:rPr>
              <a:t>&amp; ENCERRAMENTO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3848060"/>
            <a:ext cx="448450" cy="1300906"/>
          </a:xfrm>
          <a:custGeom>
            <a:avLst/>
            <a:gdLst/>
            <a:ahLst/>
            <a:cxnLst/>
            <a:rect r="r" b="b" t="t" l="l"/>
            <a:pathLst>
              <a:path h="1300906" w="448450">
                <a:moveTo>
                  <a:pt x="0" y="0"/>
                </a:moveTo>
                <a:lnTo>
                  <a:pt x="448450" y="0"/>
                </a:lnTo>
                <a:lnTo>
                  <a:pt x="44845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89888" y="4045322"/>
            <a:ext cx="5193792" cy="43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3"/>
              </a:lnSpc>
            </a:pPr>
            <a:r>
              <a:rPr lang="en-US" sz="2928" b="true">
                <a:solidFill>
                  <a:srgbClr val="FFFFFF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Domínio do fluxo completo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89888" y="4658894"/>
            <a:ext cx="7406640" cy="351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 b="true">
                <a:solidFill>
                  <a:srgbClr val="FFFFFF"/>
                </a:solidFill>
                <a:latin typeface="Montaser Arabic Medium"/>
                <a:ea typeface="Montaser Arabic Medium"/>
                <a:cs typeface="Montaser Arabic Medium"/>
                <a:sym typeface="Montaser Arabic Medium"/>
              </a:rPr>
              <a:t>login e crud funcionando juntos com segurança.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5330" y="5356674"/>
            <a:ext cx="448450" cy="1289974"/>
          </a:xfrm>
          <a:custGeom>
            <a:avLst/>
            <a:gdLst/>
            <a:ahLst/>
            <a:cxnLst/>
            <a:rect r="r" b="b" t="t" l="l"/>
            <a:pathLst>
              <a:path h="1289974" w="448450">
                <a:moveTo>
                  <a:pt x="0" y="0"/>
                </a:moveTo>
                <a:lnTo>
                  <a:pt x="448450" y="0"/>
                </a:lnTo>
                <a:lnTo>
                  <a:pt x="44845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89888" y="5526005"/>
            <a:ext cx="5852160" cy="459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7"/>
              </a:lnSpc>
            </a:pPr>
            <a:r>
              <a:rPr lang="en-US" sz="3014" b="true">
                <a:solidFill>
                  <a:srgbClr val="FFFFFF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Dados protegidos e confiáveis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9888" y="6135518"/>
            <a:ext cx="7443216" cy="371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8"/>
              </a:lnSpc>
            </a:pPr>
            <a:r>
              <a:rPr lang="en-US" sz="2465" b="true">
                <a:solidFill>
                  <a:srgbClr val="FFFFFF"/>
                </a:solidFill>
                <a:latin typeface="Montaser Arabic Medium"/>
                <a:ea typeface="Montaser Arabic Medium"/>
                <a:cs typeface="Montaser Arabic Medium"/>
                <a:sym typeface="Montaser Arabic Medium"/>
              </a:rPr>
              <a:t>validações garantem consistência e segurança.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45330" y="6854356"/>
            <a:ext cx="448450" cy="1289974"/>
          </a:xfrm>
          <a:custGeom>
            <a:avLst/>
            <a:gdLst/>
            <a:ahLst/>
            <a:cxnLst/>
            <a:rect r="r" b="b" t="t" l="l"/>
            <a:pathLst>
              <a:path h="1289974" w="448450">
                <a:moveTo>
                  <a:pt x="0" y="0"/>
                </a:moveTo>
                <a:lnTo>
                  <a:pt x="448450" y="0"/>
                </a:lnTo>
                <a:lnTo>
                  <a:pt x="44845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89888" y="7038839"/>
            <a:ext cx="4462272" cy="43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3"/>
              </a:lnSpc>
            </a:pPr>
            <a:r>
              <a:rPr lang="en-US" sz="2928" b="true">
                <a:solidFill>
                  <a:srgbClr val="FFFFFF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Gestão com autonomia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89888" y="7633361"/>
            <a:ext cx="6400800" cy="37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sz="2368" b="true">
                <a:solidFill>
                  <a:srgbClr val="FFFFFF"/>
                </a:solidFill>
                <a:latin typeface="Montaser Arabic Medium"/>
                <a:ea typeface="Montaser Arabic Medium"/>
                <a:cs typeface="Montaser Arabic Medium"/>
                <a:sym typeface="Montaser Arabic Medium"/>
              </a:rPr>
              <a:t>criar, ler, atualizar e excluir com liberdade.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45330" y="8352038"/>
            <a:ext cx="448450" cy="1508614"/>
          </a:xfrm>
          <a:custGeom>
            <a:avLst/>
            <a:gdLst/>
            <a:ahLst/>
            <a:cxnLst/>
            <a:rect r="r" b="b" t="t" l="l"/>
            <a:pathLst>
              <a:path h="1508614" w="448450">
                <a:moveTo>
                  <a:pt x="0" y="0"/>
                </a:moveTo>
                <a:lnTo>
                  <a:pt x="448450" y="0"/>
                </a:lnTo>
                <a:lnTo>
                  <a:pt x="44845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89888" y="8576423"/>
            <a:ext cx="5541264" cy="448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5"/>
              </a:lnSpc>
            </a:pPr>
            <a:r>
              <a:rPr lang="en-US" sz="2971" b="true">
                <a:solidFill>
                  <a:srgbClr val="FFFFFF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Aprendizado que faz sentido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9888" y="9195461"/>
            <a:ext cx="7351776" cy="351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 b="true">
                <a:solidFill>
                  <a:srgbClr val="FFFFFF"/>
                </a:solidFill>
                <a:latin typeface="Montaser Arabic Medium"/>
                <a:ea typeface="Montaser Arabic Medium"/>
                <a:cs typeface="Montaser Arabic Medium"/>
                <a:sym typeface="Montaser Arabic Medium"/>
              </a:rPr>
              <a:t>a analogia da biblioteca tornou tudo mais claro.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1363826" y="7185382"/>
            <a:ext cx="5895474" cy="2361309"/>
          </a:xfrm>
          <a:custGeom>
            <a:avLst/>
            <a:gdLst/>
            <a:ahLst/>
            <a:cxnLst/>
            <a:rect r="r" b="b" t="t" l="l"/>
            <a:pathLst>
              <a:path h="2361309" w="5895474">
                <a:moveTo>
                  <a:pt x="0" y="0"/>
                </a:moveTo>
                <a:lnTo>
                  <a:pt x="5895474" y="0"/>
                </a:lnTo>
                <a:lnTo>
                  <a:pt x="5895474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528483" y="7578701"/>
            <a:ext cx="3566160" cy="424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5"/>
              </a:lnSpc>
            </a:pPr>
            <a:r>
              <a:rPr lang="en-US" sz="2788" b="true">
                <a:solidFill>
                  <a:srgbClr val="00C4CC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PRÓXIMOS PASSOS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208443" y="8356512"/>
            <a:ext cx="4206240" cy="731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sz="2368" b="true">
                <a:solidFill>
                  <a:srgbClr val="FFFFFF"/>
                </a:solidFill>
                <a:latin typeface="Montaser Arabic Medium"/>
                <a:ea typeface="Montaser Arabic Medium"/>
                <a:cs typeface="Montaser Arabic Medium"/>
                <a:sym typeface="Montaser Arabic Medium"/>
              </a:rPr>
              <a:t>Explorar novos recursos e aprofundar conhecimentos.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DAHWEad7vU4</dc:identifier>
  <dcterms:modified xsi:type="dcterms:W3CDTF">2011-08-01T06:04:30Z</dcterms:modified>
  <cp:revision>1</cp:revision>
  <dc:title>CRUD e Login da Gabi</dc:title>
</cp:coreProperties>
</file>